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210" y="5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693E7A-2F36-58D8-66D6-E186407493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C0BD38-1B47-50FC-E04F-C695E145433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A5C3B3C-105D-4175-A51C-CA378892AB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04B6-BFB7-468B-A9DA-DE06DA522B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B21F8B-B874-5E24-3E86-B7FCA29C85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ED8204-2760-685B-8F22-90B0D3362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9CC9C-9D3A-4015-A813-DA57A7983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149356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72821A-74E7-8D9D-8183-93A7F27FA8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649980-AE3F-5AD0-B76E-6573E4A800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BBA8C1-7ED5-264E-5D46-139C0FFCAC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04B6-BFB7-468B-A9DA-DE06DA522B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4D2519-09D4-4062-5051-37E901B32E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AE58AA3-7BBF-6135-C9CA-5260117592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9CC9C-9D3A-4015-A813-DA57A7983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807960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9D828-DEBD-6481-5080-B9D11C3D29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F4D84-E20D-3B2F-C050-024B25BB35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B981C-11B3-B4B6-5E65-E836C9A908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04B6-BFB7-468B-A9DA-DE06DA522B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ED1397-581D-2788-A5E7-29B88B1086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428984-7627-8AC8-1FB7-8F71C55774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9CC9C-9D3A-4015-A813-DA57A7983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4473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130686-D3F7-C845-8B98-6F7901B0B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53716B-54A0-AB46-F18C-4E387FF4FFB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C489CFC-CB53-7D20-0F9D-52C214412FC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D4F623-98FD-D4BC-1240-9943C49E5F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04B6-BFB7-468B-A9DA-DE06DA522B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CB9ECC-16A2-C436-7C06-75B3D5B3A0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E6C97E3-81CB-11EC-38CA-2699DA8687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9CC9C-9D3A-4015-A813-DA57A7983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585883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34802-CF91-DE8A-2D9A-3E8070D65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0101AFB-BDB4-CB02-5923-0EB1357DD9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DE70B5A-A80E-7F89-91BD-E7BA004C8D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D72A3D-9A11-3B79-FFBD-B7C2000B91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ABA6C96-6188-F143-00BA-80D8366A1C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F393762-5062-213A-75F2-2275D6FF99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04B6-BFB7-468B-A9DA-DE06DA522B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F9808BA-28AD-B5D0-48C2-482482CF72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FDD739E-CC51-2FD6-132A-D45CA200F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9CC9C-9D3A-4015-A813-DA57A7983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225557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A0371E-DC4F-7835-4432-1A183C6DCC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24A7A8B-9E4F-8C97-5912-8BED71A32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04B6-BFB7-468B-A9DA-DE06DA522B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E69A919-CCE5-1B4A-2953-02286F51A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1925DE-8B9C-F806-0973-64BD3C360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9CC9C-9D3A-4015-A813-DA57A7983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75125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5BD3787-4467-3938-5A64-02C31AABBA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04B6-BFB7-468B-A9DA-DE06DA522B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C69B8F-6002-EC98-8748-6109FBB6C0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FADDC47-ABB5-C499-302E-752733B70B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9CC9C-9D3A-4015-A813-DA57A7983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3933553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01EE71-9DF0-9948-608D-5F4762BF96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C9BCC0-8F88-7FDA-3447-6A0CB0F311D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400622-4FB1-EA71-0E05-FA8A96F5C1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32ECDC-FD87-8EE3-22C3-5346B932B0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04B6-BFB7-468B-A9DA-DE06DA522B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A3EDE1-6D96-B47F-7036-C508D01B6F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114D5E9-8DEE-FB3B-52C6-89EA358E4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9CC9C-9D3A-4015-A813-DA57A7983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76991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86B07C-8701-4EC8-5BEA-BA8CE48202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C520398-D22F-AFB0-72BE-2DD65BDC04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ADF8A8-F55E-3EE3-2B28-8E141CABE2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C36BC2-F4E0-1089-0BA2-35838935B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04B6-BFB7-468B-A9DA-DE06DA522B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BF8797-50CD-4323-78F9-974EBC5832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045728-1D5A-7AF3-2DE6-886316BB7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9CC9C-9D3A-4015-A813-DA57A7983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607458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1468BF-421E-E377-C486-29E3DF1025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396224-26DC-2811-370A-4FEBAE4F5D6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E66D6D-F9BD-8F2A-C2A6-A5E080F17E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04B6-BFB7-468B-A9DA-DE06DA522B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6BA38B-212B-D1C5-7390-B647CAC682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C7E64D-D0EA-06B8-6163-0BD1A08AC4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9CC9C-9D3A-4015-A813-DA57A7983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970094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C40392E-9F6D-CD36-1729-27670BB1A0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998825C-3409-F0C3-A788-7A1B0B58F1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818BF7-FA30-1971-74C2-BA7D74AA89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BE04B6-BFB7-468B-A9DA-DE06DA522B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A49402-426A-DA7C-97D4-12CB48F2E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1F4B4-6EBA-64AD-C27F-915EB371FC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99CC9C-9D3A-4015-A813-DA57A7983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162986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83AD6D0-59F8-3A9F-512C-F73ECA42E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2492CE-80BC-792F-676B-2A5EBE1C6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51CDA6-FF01-A69F-D3E2-89CD8FBB0E4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8BE04B6-BFB7-468B-A9DA-DE06DA522B7B}" type="datetimeFigureOut">
              <a:rPr lang="en-GB" smtClean="0"/>
              <a:t>20/04/2026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F0A3A6-BB2C-62FF-4A9C-F50691A48F3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8F21F3-D28A-60DC-615A-E20357430CC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199CC9C-9D3A-4015-A813-DA57A7983015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24510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167958EB-C117-913B-7130-DB621F1C18F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551262"/>
              </p:ext>
            </p:extLst>
          </p:nvPr>
        </p:nvGraphicFramePr>
        <p:xfrm>
          <a:off x="313664" y="314781"/>
          <a:ext cx="11673528" cy="6228438"/>
        </p:xfrm>
        <a:graphic>
          <a:graphicData uri="http://schemas.openxmlformats.org/drawingml/2006/table">
            <a:tbl>
              <a:tblPr/>
              <a:tblGrid>
                <a:gridCol w="1621981">
                  <a:extLst>
                    <a:ext uri="{9D8B030D-6E8A-4147-A177-3AD203B41FA5}">
                      <a16:colId xmlns:a16="http://schemas.microsoft.com/office/drawing/2014/main" val="4152031361"/>
                    </a:ext>
                  </a:extLst>
                </a:gridCol>
                <a:gridCol w="1621981">
                  <a:extLst>
                    <a:ext uri="{9D8B030D-6E8A-4147-A177-3AD203B41FA5}">
                      <a16:colId xmlns:a16="http://schemas.microsoft.com/office/drawing/2014/main" val="2628839757"/>
                    </a:ext>
                  </a:extLst>
                </a:gridCol>
                <a:gridCol w="1621981">
                  <a:extLst>
                    <a:ext uri="{9D8B030D-6E8A-4147-A177-3AD203B41FA5}">
                      <a16:colId xmlns:a16="http://schemas.microsoft.com/office/drawing/2014/main" val="2439091282"/>
                    </a:ext>
                  </a:extLst>
                </a:gridCol>
                <a:gridCol w="1621981">
                  <a:extLst>
                    <a:ext uri="{9D8B030D-6E8A-4147-A177-3AD203B41FA5}">
                      <a16:colId xmlns:a16="http://schemas.microsoft.com/office/drawing/2014/main" val="506524355"/>
                    </a:ext>
                  </a:extLst>
                </a:gridCol>
                <a:gridCol w="1621981">
                  <a:extLst>
                    <a:ext uri="{9D8B030D-6E8A-4147-A177-3AD203B41FA5}">
                      <a16:colId xmlns:a16="http://schemas.microsoft.com/office/drawing/2014/main" val="3318873681"/>
                    </a:ext>
                  </a:extLst>
                </a:gridCol>
                <a:gridCol w="1621981">
                  <a:extLst>
                    <a:ext uri="{9D8B030D-6E8A-4147-A177-3AD203B41FA5}">
                      <a16:colId xmlns:a16="http://schemas.microsoft.com/office/drawing/2014/main" val="3561104088"/>
                    </a:ext>
                  </a:extLst>
                </a:gridCol>
                <a:gridCol w="1941642">
                  <a:extLst>
                    <a:ext uri="{9D8B030D-6E8A-4147-A177-3AD203B41FA5}">
                      <a16:colId xmlns:a16="http://schemas.microsoft.com/office/drawing/2014/main" val="4284455555"/>
                    </a:ext>
                  </a:extLst>
                </a:gridCol>
              </a:tblGrid>
              <a:tr h="246756"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Makale Konusu / Dosya Adı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Kurum (Tesis)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Akış Koşulları (Mach, Sıcaklık, Basınç)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Termal / Kimyasal Dengesizlik Durumu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Nümerik Çalışma (Yöntem)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Kullanılan Çözücü / Kod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Deney Geometrisi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055" marR="1805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04063716"/>
                  </a:ext>
                </a:extLst>
              </a:tr>
              <a:tr h="842583"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Hız ve Sıcaklık Ölçümlerinin Karşılaştırılması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b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900" i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(Comparison of velocity and temperature measurements.pdf)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University of New South Wales (T-ADFA Shock Tunnel)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 9.7</a:t>
                      </a:r>
                    </a:p>
                    <a:p>
                      <a:pPr algn="ctr" rtl="0"/>
                      <a:b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Rezervuar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T_0=3051 K, P_0=11.5 MPa</a:t>
                      </a:r>
                    </a:p>
                    <a:p>
                      <a:pPr algn="ctr" rtl="0"/>
                      <a:b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Serbest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Akış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Tt=165 K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Kimyasal olarak donmuş (reaksiyonsuz) kabul edilmiştir, ancak </a:t>
                      </a:r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termal dengesizlik</a:t>
                      </a:r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(titreşim sıcaklığının öteleme sıcaklığından yüksek olması) etkilidir.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Evet.</a:t>
                      </a:r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(DSMC ve CFD karşılaştırmalı kullanılmış).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DS2V</a:t>
                      </a:r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(DSMC analizleri için)</a:t>
                      </a:r>
                    </a:p>
                    <a:p>
                      <a:pPr algn="ctr" rtl="0"/>
                      <a:b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ESTC</a:t>
                      </a:r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(1-D şok tüpü kodu)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Gezegensel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giriş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probu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(45°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küt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koni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düz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tabanlı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marL="18055" marR="1805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2287333"/>
                  </a:ext>
                </a:extLst>
              </a:tr>
              <a:tr h="1059247"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Laminer Şok Dalgası Etkileşim Bölgeleri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b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900" i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(Comparisons_between_Measurements_in_Regions_of_Lam.pdf)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CUBRC (LENS I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48-inch Shock Tunnels), ABD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 10 - 12.4</a:t>
                      </a:r>
                    </a:p>
                    <a:p>
                      <a:pPr algn="ctr" rtl="0"/>
                      <a:br>
                        <a:rPr lang="de-DE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de-DE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Rezervuar: T0=1111 - 2777 K (2000-5000 °R)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Test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gazı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olarak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Azot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(N2)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kullanılarak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kimyasal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reaksiyonlar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önlenmiştir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;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yüksek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entalpili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durumlarda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serbest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akışta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titreşimsel</a:t>
                      </a:r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termal</a:t>
                      </a:r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dengesizlik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mevcuttur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Evet.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(Hem CFD (Navier-Stokes) hem de DSMC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metotlarıyla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yapılmıştır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Yazarların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geliştirdiği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/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kullandığı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özel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Navier-Stokes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DSMC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kodları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kullanılmıştır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İçi boş silindir/flare ve çift koni (25°/55° ve 25°/60° açılı modeller).</a:t>
                      </a:r>
                    </a:p>
                  </a:txBody>
                  <a:tcPr marL="18055" marR="1805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61753689"/>
                  </a:ext>
                </a:extLst>
              </a:tr>
              <a:tr h="842583"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Göttingen Yüksek Entalpili Şok Tüneli (HEG)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b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900" i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(High_Enthalpy_Shock_Tunnel_Gottingen_of_the_German.pdf)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DLR (Alman Havacılık ve Uzay Merkezi) - HEG Tesisi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 6 - 10</a:t>
                      </a:r>
                    </a:p>
                    <a:p>
                      <a:pPr algn="ctr" rtl="0"/>
                      <a:br>
                        <a:rPr lang="de-DE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de-DE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Rezervuar: T0=1640 - 6816 K, P0=6.8 - 47.3 Mpa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Kimyasal</a:t>
                      </a:r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</a:t>
                      </a:r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termal</a:t>
                      </a:r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dengesizlikleri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incelemek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için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çalıştırılmaktadır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Evet.</a:t>
                      </a:r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(Tesisin nozul akış koşullarını karakterize ve kalibre etmek için CFD kullanılmıştır).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DLR TAU</a:t>
                      </a:r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(CFD Nozul simülasyonları için)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Scramjet, HEXAFLY-INT, ReFEx uçuş konfigürasyonları ve küre/silindir modeller.</a:t>
                      </a:r>
                    </a:p>
                  </a:txBody>
                  <a:tcPr marL="18055" marR="1805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3136144"/>
                  </a:ext>
                </a:extLst>
              </a:tr>
              <a:tr h="680085"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Küt Cisimlerin Aerodinamik Etkileşimi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b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900" i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(Aerodynamic interactions of blunt bodies free‑flying...)</a:t>
                      </a:r>
                      <a:endParaRPr lang="en-GB" sz="90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DLR (Alman Havacılık ve Uzay Merkezi) - H2K Tesisi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de-DE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 7</a:t>
                      </a:r>
                    </a:p>
                    <a:p>
                      <a:pPr algn="ctr" rtl="0"/>
                      <a:br>
                        <a:rPr lang="de-DE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de-DE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Rezervuar: T0=600 K, $P_0=520$ kPa</a:t>
                      </a:r>
                    </a:p>
                    <a:p>
                      <a:pPr algn="ctr" rtl="0"/>
                      <a:br>
                        <a:rPr lang="de-DE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de-DE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Serbest Akış: 1046 m/s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Tesisin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soğuk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hipersonik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akış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karakteristiği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düşük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sıcaklık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seviyeleri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nedeniyle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kimyasal</a:t>
                      </a:r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veya</a:t>
                      </a:r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termal</a:t>
                      </a:r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bir</a:t>
                      </a:r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dengesizlik</a:t>
                      </a:r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yoktur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Hayır.</a:t>
                      </a:r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(Nümerik çalışma yapılmamış, sadece stereo-tracking ile serbest uçuş deneyleri yapılmıştır).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i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Nümerik</a:t>
                      </a:r>
                      <a:r>
                        <a:rPr lang="en-GB" sz="900" i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i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modelleme</a:t>
                      </a:r>
                      <a:r>
                        <a:rPr lang="en-GB" sz="900" i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yok</a:t>
                      </a:r>
                      <a:endParaRPr lang="en-GB" sz="9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Küre ve küplerin yan yana ve art arda (tandem) varyasyonları.</a:t>
                      </a:r>
                    </a:p>
                  </a:txBody>
                  <a:tcPr marL="18055" marR="1805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68076069"/>
                  </a:ext>
                </a:extLst>
              </a:tr>
              <a:tr h="680085"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Süper</a:t>
                      </a:r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Yörüngesel</a:t>
                      </a:r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Hızlarda</a:t>
                      </a:r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Aerotermodinamik</a:t>
                      </a:r>
                      <a:endParaRPr lang="en-GB" sz="9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pPr algn="ctr" rtl="0"/>
                      <a:b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900" i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(Aerothermodynamics Behind a Blunt Body at </a:t>
                      </a:r>
                      <a:r>
                        <a:rPr lang="en-GB" sz="900" i="1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Superorbital</a:t>
                      </a:r>
                      <a:r>
                        <a:rPr lang="en-GB" sz="900" i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Speeds)</a:t>
                      </a:r>
                      <a:endParaRPr lang="en-GB" sz="900" dirty="0">
                        <a:solidFill>
                          <a:srgbClr val="1F1F1F"/>
                        </a:solidFill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University of Queensland (X2 Expansion Tube)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Mach 6.1 (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Hava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&amp; Mach 8.1 (CO2-N2)</a:t>
                      </a:r>
                    </a:p>
                    <a:p>
                      <a:pPr algn="ctr" rtl="0"/>
                      <a:b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Serbest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Akış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$T_{\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infty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}=2790-3570$ K, $P_{\</a:t>
                      </a:r>
                      <a:r>
                        <a:rPr lang="en-GB" sz="900" dirty="0" err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infty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}=1.7-2.5$ kPa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Süper yörüngesel akış (&gt;8 km/s) simüle edildiğinden çok güçlü </a:t>
                      </a:r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kimyasal reaksiyonlar ve termal dengesizlik</a:t>
                      </a:r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mevcuttur.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Evet.</a:t>
                      </a:r>
                      <a:r>
                        <a:rPr lang="en-GB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MBCNS</a:t>
                      </a:r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(Multiblock Compressible Navier-Stokes)</a:t>
                      </a:r>
                    </a:p>
                    <a:p>
                      <a:pPr algn="ctr" rtl="0"/>
                      <a:b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900" b="1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L1d</a:t>
                      </a:r>
                      <a:r>
                        <a:rPr lang="en-GB" sz="90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(1D Lagrangian akış koşulu belirleme kodu)</a:t>
                      </a:r>
                    </a:p>
                  </a:txBody>
                  <a:tcPr marL="18055" marR="1128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/>
                      <a:r>
                        <a:rPr lang="pl-PL" sz="900" dirty="0">
                          <a:solidFill>
                            <a:srgbClr val="1F1F1F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45° yarı açılı küt koni (Mars mikro-probuna benzer).</a:t>
                      </a:r>
                    </a:p>
                  </a:txBody>
                  <a:tcPr marL="18055" marR="18055" marT="15046" marB="15046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671039"/>
                  </a:ext>
                </a:extLst>
              </a:tr>
              <a:tr h="680085">
                <a:tc>
                  <a:txBody>
                    <a:bodyPr/>
                    <a:lstStyle/>
                    <a:p>
                      <a:r>
                        <a:rPr lang="en-GB" sz="900" b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Dairesel Bir Silindirin Hipersonik Hızlardaki Taban Akışının İncelenmesi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br>
                        <a:rPr lang="en-GB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900" i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(An Investigation of Base Flow of a Circular Cylinder at Hypersonic Speeds)</a:t>
                      </a:r>
                      <a:endParaRPr lang="en-GB" sz="900">
                        <a:effectLst/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University of New South Wales (T-ADFA Shock Tunnel)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Hava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(Air)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kullanılarak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iki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farklı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durum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çalışılmıştır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</a:t>
                      </a:r>
                    </a:p>
                    <a:p>
                      <a:b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Durum A (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Yüksek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Entalpi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): Mach 9.13, T_\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infty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=593 K, P_\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infty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=381 Pa</a:t>
                      </a:r>
                    </a:p>
                    <a:p>
                      <a:b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</a:b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• Durum B (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Düşük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Entalpi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): Mach 10.3, T_\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infty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=168 K, $P_\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infty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=291 Pa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Her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iki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durum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için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de </a:t>
                      </a:r>
                      <a:r>
                        <a:rPr lang="en-GB" sz="9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termal</a:t>
                      </a:r>
                      <a:r>
                        <a:rPr lang="en-GB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denge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varsayılmıştır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Ancak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yüksek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entalpili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Durum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A'da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akış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reaktif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ayrışma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ve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yeniden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birleşme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reaksiyonları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b="1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mevcut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olarak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kabul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edilirken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,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düşük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entalpili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Durum B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kimyasal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olarak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donmuş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(non-reacting)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kabul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edilmiştir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Evet.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Zamana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bağlı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Sıkıştırılabilir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Navier-Stokes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denklemleri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kullanılmıştır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b="1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MBCNS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(Multi-Block Compressible Navier-Stokes)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Dairesel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silindir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Dış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Çap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: 32 mm, </a:t>
                      </a:r>
                      <a:r>
                        <a:rPr lang="en-GB" sz="900" dirty="0" err="1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Genişlik</a:t>
                      </a:r>
                      <a:r>
                        <a:rPr lang="en-GB" sz="900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(Span): 132 mm).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377061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67968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722</Words>
  <Application>Microsoft Office PowerPoint</Application>
  <PresentationFormat>Widescreen</PresentationFormat>
  <Paragraphs>66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Times New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Elif AVCILAR</dc:creator>
  <cp:lastModifiedBy>Elif AVCILAR</cp:lastModifiedBy>
  <cp:revision>2</cp:revision>
  <dcterms:created xsi:type="dcterms:W3CDTF">2026-04-20T13:56:43Z</dcterms:created>
  <dcterms:modified xsi:type="dcterms:W3CDTF">2026-04-20T14:01:36Z</dcterms:modified>
</cp:coreProperties>
</file>